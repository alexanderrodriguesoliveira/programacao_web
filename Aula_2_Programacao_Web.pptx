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749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22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685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52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97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456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302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10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17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587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46771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4242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20262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1074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1107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893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noProof="0" dirty="0"/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noProof="0" dirty="0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noProof="0" dirty="0"/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noProof="0" dirty="0"/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noProof="0" dirty="0"/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noProof="0" dirty="0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noProof="0" dirty="0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noProof="0" dirty="0"/>
            </a:p>
          </p:txBody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179DE42-5613-4B35-A1E6-6CCBAA13C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B898B32-3891-4C3A-8F58-C5969D2E9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143375" y="0"/>
            <a:ext cx="9144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E4806D-B8F9-4679-A68A-9BD21C01A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20950" y="3681413"/>
            <a:ext cx="357266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3">
            <a:extLst>
              <a:ext uri="{FF2B5EF4-FFF2-40B4-BE49-F238E27FC236}">
                <a16:creationId xmlns:a16="http://schemas.microsoft.com/office/drawing/2014/main" id="{52FB45E9-914E-4471-AC87-E475CD51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44415" y="-8467"/>
            <a:ext cx="2255512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noProof="0" dirty="0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C310626D-5743-49D4-8F7D-88C4F8F05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42034" y="-8467"/>
            <a:ext cx="194141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noProof="0" dirty="0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C195FC1-B568-4C72-9902-34CB35D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42034" y="3048000"/>
            <a:ext cx="2444750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noProof="0" dirty="0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EF2BDF77-362C-43F0-8CBB-A969EC2AE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44414" y="-8467"/>
            <a:ext cx="2140745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noProof="0" dirty="0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4BE96B01-3929-432D-B8C2-ADBCB74C2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44415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A6FCDE6-CDE2-4C51-B18E-A95CFB679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8467"/>
            <a:ext cx="6881784" cy="6866467"/>
          </a:xfrm>
          <a:custGeom>
            <a:avLst/>
            <a:gdLst>
              <a:gd name="connsiteX0" fmla="*/ 0 w 9175713"/>
              <a:gd name="connsiteY0" fmla="*/ 0 h 6866467"/>
              <a:gd name="connsiteX1" fmla="*/ 1249825 w 9175713"/>
              <a:gd name="connsiteY1" fmla="*/ 0 h 6866467"/>
              <a:gd name="connsiteX2" fmla="*/ 1249825 w 9175713"/>
              <a:gd name="connsiteY2" fmla="*/ 8467 h 6866467"/>
              <a:gd name="connsiteX3" fmla="*/ 9175713 w 9175713"/>
              <a:gd name="connsiteY3" fmla="*/ 8467 h 6866467"/>
              <a:gd name="connsiteX4" fmla="*/ 9175713 w 9175713"/>
              <a:gd name="connsiteY4" fmla="*/ 6866467 h 6866467"/>
              <a:gd name="connsiteX5" fmla="*/ 1249825 w 9175713"/>
              <a:gd name="connsiteY5" fmla="*/ 6866467 h 6866467"/>
              <a:gd name="connsiteX6" fmla="*/ 1109382 w 9175713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75713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9175713" y="8467"/>
                </a:lnTo>
                <a:lnTo>
                  <a:pt x="9175713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5590" y="1877961"/>
            <a:ext cx="5220569" cy="199258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pt-BR" sz="4800" noProof="0" dirty="0">
                <a:solidFill>
                  <a:srgbClr val="FFFFFF"/>
                </a:solidFill>
              </a:rPr>
              <a:t>Programação Web Aula 1 – Introdução ao </a:t>
            </a:r>
            <a:r>
              <a:rPr lang="pt-BR" sz="4800" noProof="0" dirty="0" err="1">
                <a:solidFill>
                  <a:srgbClr val="FFFFFF"/>
                </a:solidFill>
              </a:rPr>
              <a:t>JavaScript</a:t>
            </a:r>
            <a:endParaRPr lang="pt-BR" sz="4800" noProof="0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2316" y="3962088"/>
            <a:ext cx="4584057" cy="11861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1700" noProof="0" dirty="0">
                <a:solidFill>
                  <a:srgbClr val="FFFFFF">
                    <a:alpha val="70000"/>
                  </a:srgbClr>
                </a:solidFill>
              </a:rPr>
              <a:t>Disciplina: Programação Web</a:t>
            </a:r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9D2E8756-2465-473A-BA2A-2DB1D6224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6527" y="3294792"/>
            <a:ext cx="220660" cy="139829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O que o </a:t>
            </a:r>
            <a:r>
              <a:rPr lang="pt-BR" noProof="0" dirty="0" err="1"/>
              <a:t>JavaScript</a:t>
            </a:r>
            <a:r>
              <a:rPr lang="pt-BR" noProof="0" dirty="0"/>
              <a:t> pode fazer?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noProof="0" dirty="0" err="1"/>
              <a:t>JavaScript</a:t>
            </a:r>
            <a:r>
              <a:rPr lang="pt-BR" noProof="0" dirty="0"/>
              <a:t> é a linguagem de programação da web.</a:t>
            </a:r>
          </a:p>
          <a:p>
            <a:r>
              <a:rPr lang="pt-BR" noProof="0" dirty="0"/>
              <a:t>Ele pode calcular, manipular e validar dados.</a:t>
            </a:r>
          </a:p>
          <a:p>
            <a:r>
              <a:rPr lang="pt-BR" noProof="0" dirty="0"/>
              <a:t>Ele pode atualizar e alterar tanto HTML quanto CSS.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 err="1"/>
              <a:t>JavaScript</a:t>
            </a:r>
            <a:r>
              <a:rPr lang="pt-BR" noProof="0" dirty="0"/>
              <a:t> pode alterar o conteúdo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noProof="0" dirty="0"/>
              <a:t>Um dos muitos métodos </a:t>
            </a:r>
            <a:r>
              <a:rPr lang="pt-BR" noProof="0" dirty="0" err="1"/>
              <a:t>JavaScript</a:t>
            </a:r>
            <a:r>
              <a:rPr lang="pt-BR" noProof="0" dirty="0"/>
              <a:t> HTML é. </a:t>
            </a:r>
            <a:r>
              <a:rPr lang="pt-BR" noProof="0" dirty="0" err="1">
                <a:solidFill>
                  <a:srgbClr val="FF0000"/>
                </a:solidFill>
              </a:rPr>
              <a:t>getElementById</a:t>
            </a:r>
            <a:r>
              <a:rPr lang="pt-BR" noProof="0" dirty="0">
                <a:solidFill>
                  <a:srgbClr val="FF0000"/>
                </a:solidFill>
              </a:rPr>
              <a:t>()</a:t>
            </a:r>
          </a:p>
          <a:p>
            <a:r>
              <a:rPr lang="pt-BR" noProof="0" dirty="0"/>
              <a:t>O exemplo abaixo "encontra" um elemento HTML (com id="demo"), e altera o elemento conteúdo (</a:t>
            </a:r>
            <a:r>
              <a:rPr lang="pt-BR" noProof="0" dirty="0" err="1"/>
              <a:t>innerHTML</a:t>
            </a:r>
            <a:r>
              <a:rPr lang="pt-BR" noProof="0" dirty="0"/>
              <a:t>) para "</a:t>
            </a:r>
            <a:r>
              <a:rPr lang="pt-BR" noProof="0" dirty="0" err="1"/>
              <a:t>Hello</a:t>
            </a:r>
            <a:r>
              <a:rPr lang="pt-BR" noProof="0" dirty="0"/>
              <a:t> </a:t>
            </a:r>
            <a:r>
              <a:rPr lang="pt-BR" noProof="0" dirty="0" err="1"/>
              <a:t>JavaScript</a:t>
            </a:r>
            <a:r>
              <a:rPr lang="pt-BR" noProof="0" dirty="0"/>
              <a:t>":</a:t>
            </a:r>
          </a:p>
          <a:p>
            <a:r>
              <a:rPr lang="pt-BR" noProof="0" dirty="0"/>
              <a:t>Exemplo</a:t>
            </a:r>
          </a:p>
          <a:p>
            <a:endParaRPr lang="pt-BR" noProof="0" dirty="0">
              <a:solidFill>
                <a:srgbClr val="FF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BEA531F-DDC8-EFB7-44DC-8BC8916E1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576" y="4298954"/>
            <a:ext cx="6638925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7A036-46E1-1EBF-9007-A7C1266B2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BA7BA-6D9B-8306-1524-79A46E136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noProof="0" dirty="0"/>
              <a:t>Exemplo prático</a:t>
            </a:r>
          </a:p>
        </p:txBody>
      </p:sp>
      <p:pic>
        <p:nvPicPr>
          <p:cNvPr id="10" name="Espaço Reservado para Conteúdo 9">
            <a:extLst>
              <a:ext uri="{FF2B5EF4-FFF2-40B4-BE49-F238E27FC236}">
                <a16:creationId xmlns:a16="http://schemas.microsoft.com/office/drawing/2014/main" id="{A035FCE5-D0A5-6426-AD24-3F4A254377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619" y="1930400"/>
            <a:ext cx="7039897" cy="338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75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2. Conceito de Programação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845961"/>
            <a:ext cx="6347714" cy="3880773"/>
          </a:xfrm>
        </p:spPr>
        <p:txBody>
          <a:bodyPr/>
          <a:lstStyle/>
          <a:p>
            <a:r>
              <a:rPr lang="pt-BR" noProof="0" dirty="0"/>
              <a:t>• Definição: desenvolvimento de aplicações que funcionam em navegadores.</a:t>
            </a:r>
          </a:p>
          <a:p>
            <a:r>
              <a:rPr lang="pt-BR" noProof="0" dirty="0"/>
              <a:t>• Diferença entre front-</a:t>
            </a:r>
            <a:r>
              <a:rPr lang="pt-BR" noProof="0" dirty="0" err="1"/>
              <a:t>end</a:t>
            </a:r>
            <a:r>
              <a:rPr lang="pt-BR" noProof="0" dirty="0"/>
              <a:t> (interface do usuário) e </a:t>
            </a:r>
            <a:r>
              <a:rPr lang="pt-BR" noProof="0" dirty="0" err="1"/>
              <a:t>back-end</a:t>
            </a:r>
            <a:r>
              <a:rPr lang="pt-BR" noProof="0" dirty="0"/>
              <a:t> (lógica e banco de dados).</a:t>
            </a:r>
          </a:p>
          <a:p>
            <a:r>
              <a:rPr lang="pt-BR" noProof="0" dirty="0"/>
              <a:t>• Exemplos práticos: páginas estáticas vs. dinâmicas.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O </a:t>
            </a:r>
            <a:r>
              <a:rPr lang="pt-BR" noProof="0" dirty="0" err="1"/>
              <a:t>JavaScript</a:t>
            </a:r>
            <a:r>
              <a:rPr lang="pt-BR" noProof="0" dirty="0"/>
              <a:t> pode alterar os valores dos atributos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30400"/>
            <a:ext cx="6347714" cy="4110963"/>
          </a:xfrm>
        </p:spPr>
        <p:txBody>
          <a:bodyPr/>
          <a:lstStyle/>
          <a:p>
            <a:r>
              <a:rPr lang="pt-BR" noProof="0" dirty="0"/>
              <a:t>Neste exemplo, o </a:t>
            </a:r>
            <a:r>
              <a:rPr lang="pt-BR" noProof="0" dirty="0" err="1"/>
              <a:t>JavaScript</a:t>
            </a:r>
            <a:r>
              <a:rPr lang="pt-BR" noProof="0" dirty="0"/>
              <a:t> altera o valor do atributo (fonte) de uma </a:t>
            </a:r>
            <a:r>
              <a:rPr lang="pt-BR" noProof="0" dirty="0" err="1"/>
              <a:t>tag</a:t>
            </a:r>
            <a:r>
              <a:rPr lang="pt-BR" noProof="0" dirty="0"/>
              <a:t>: </a:t>
            </a:r>
            <a:r>
              <a:rPr lang="pt-BR" noProof="0" dirty="0" err="1"/>
              <a:t>src</a:t>
            </a:r>
            <a:r>
              <a:rPr lang="pt-BR" noProof="0" dirty="0"/>
              <a:t>&lt;</a:t>
            </a:r>
            <a:r>
              <a:rPr lang="pt-BR" noProof="0" dirty="0" err="1"/>
              <a:t>img</a:t>
            </a:r>
            <a:r>
              <a:rPr lang="pt-BR" noProof="0" dirty="0"/>
              <a:t>&gt;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C6E64F6-0DAF-51D3-C7F8-74D654090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39597"/>
            <a:ext cx="9144000" cy="3669358"/>
          </a:xfrm>
          <a:prstGeom prst="rect">
            <a:avLst/>
          </a:prstGeom>
          <a:effectLst>
            <a:softEdge rad="3175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Exercícios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noProof="0" dirty="0"/>
              <a:t>Verdadeiro ou falso.</a:t>
            </a:r>
            <a:br>
              <a:rPr lang="pt-BR" noProof="0" dirty="0"/>
            </a:br>
            <a:r>
              <a:rPr lang="pt-BR" noProof="0" dirty="0"/>
              <a:t>JAVA é a abreviação de </a:t>
            </a:r>
            <a:r>
              <a:rPr lang="pt-BR" noProof="0" dirty="0" err="1"/>
              <a:t>JavaScript</a:t>
            </a:r>
            <a:r>
              <a:rPr lang="pt-BR" noProof="0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77</TotalTime>
  <Words>182</Words>
  <Application>Microsoft Office PowerPoint</Application>
  <PresentationFormat>Apresentação na tela (4:3)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Facetado</vt:lpstr>
      <vt:lpstr>Programação Web Aula 1 – Introdução ao JavaScript</vt:lpstr>
      <vt:lpstr>O que o JavaScript pode fazer?</vt:lpstr>
      <vt:lpstr>JavaScript pode alterar o conteúdo HTML</vt:lpstr>
      <vt:lpstr>Exemplo prático</vt:lpstr>
      <vt:lpstr>2. Conceito de Programação Web</vt:lpstr>
      <vt:lpstr>O JavaScript pode alterar os valores dos atributos HTML</vt:lpstr>
      <vt:lpstr>Exercícios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Alexander Oliveira</cp:lastModifiedBy>
  <cp:revision>16</cp:revision>
  <dcterms:created xsi:type="dcterms:W3CDTF">2013-01-27T09:14:16Z</dcterms:created>
  <dcterms:modified xsi:type="dcterms:W3CDTF">2026-03-17T16:54:48Z</dcterms:modified>
  <cp:category/>
</cp:coreProperties>
</file>